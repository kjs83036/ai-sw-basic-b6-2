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710318624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10288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8521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47538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20768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461681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1482961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79400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005515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01. 과제 목표: 변경을 설명하는 초안 만들기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요구서 1·3절 / E01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158625156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9554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31602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02. 전체 흐름과 작업 범위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요구서 2·4·5·7절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145392735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38221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688446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03. 명령에서 처리 함수까지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main.py / build_parser·main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87139275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80782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815531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04. Git에서 어떤 변경을 읽는가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git_service.py / git_status·git_diff / E02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2130538230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8271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06885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05. API에 보내는 정보의 범위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ai_service.py / limit_diff·_prepare_diff / E03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72599191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44389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02759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06. diff에서 프롬프트로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ai_service.py / COMMIT_PROMPT·PR_PROMPT·ai_prompt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110330746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3143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089323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07. API 요청과 응답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ai_service.py / ai_call_api / E01·E05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  <a:p>
            <a:pPr>
              <a:defRPr/>
            </a:pPr>
            <a:br>
              <a:rPr/>
            </a:br>
            <a:r>
              <a:rPr/>
              <a:t>개념 출처: https://developers.openai.com/api/reference/resources/chat/subresources/completions/methods/create (2026-10-19 확인). Codyssey 모델별 계약과 구분.</a:t>
            </a:r>
            <a:endParaRPr/>
          </a:p>
        </p:txBody>
      </p:sp>
      <p:sp>
        <p:nvSpPr>
          <p:cNvPr id="69751100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37129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418101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08. 생성 결과의 형식 검증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ai_service.py / ai_validate·_markdown_structure / E04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4689197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09142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296197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09. 재생성과 오류 종료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ai_service.py / ai_generate_validated / E05·E06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177890470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17780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088666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10. 실행 증거와 재현 가능성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근거/실행기록.md / E01~E08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116608654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19956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517145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상세해설.md → 11. 구현의 한계와 확장 질문</a:t>
            </a:r>
            <a:endParaRPr/>
          </a:p>
          <a:p>
            <a:pPr>
              <a:defRPr/>
            </a:pPr>
            <a:r>
              <a:rPr/>
              <a:t>청중에 맞는 미경험자 또는 경험자 원고를 사용합니다.</a:t>
            </a:r>
            <a:endParaRPr/>
          </a:p>
          <a:p>
            <a:pPr>
              <a:defRPr/>
            </a:pPr>
            <a:r>
              <a:rPr/>
              <a:t>근거: 상세해설.md / 11장</a:t>
            </a:r>
            <a:endParaRPr/>
          </a:p>
          <a:p>
            <a:pPr>
              <a:defRPr/>
            </a:pPr>
            <a:r>
              <a:rPr/>
              <a:t>실행 원문: 근거/실행기록.md</a:t>
            </a:r>
            <a:endParaRPr/>
          </a:p>
          <a:p>
            <a:pPr>
              <a:defRPr/>
            </a:pPr>
            <a:r>
              <a:rPr/>
              <a:t>코드 기준: fdcd410ae62a5b17f61f90fee84dd3407a633348</a:t>
            </a:r>
            <a:endParaRPr/>
          </a:p>
          <a:p>
            <a:pPr>
              <a:defRPr/>
            </a:pPr>
            <a:r>
              <a:rPr/>
              <a:t>원문 요구서와 정정 요구서: ../AI 기반 Git 커밋 &amp; PR 자동 생성기 개발.pdf, ../AI기반_Git커밋_PR자동생성기_개발.md</a:t>
            </a:r>
            <a:endParaRPr/>
          </a:p>
          <a:p>
            <a:pPr>
              <a:defRPr/>
            </a:pPr>
            <a:r>
              <a:rPr/>
              <a:t>평가질문 대응: 상세해설.md의 평가질문 16개 대응표</a:t>
            </a:r>
            <a:endParaRPr/>
          </a:p>
        </p:txBody>
      </p:sp>
      <p:sp>
        <p:nvSpPr>
          <p:cNvPr id="1996413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487137" name="Title"/>
          <p:cNvSpPr>
            <a:spLocks noGrp="1"/>
          </p:cNvSpPr>
          <p:nvPr>
            <p:ph type="title" idx="0"/>
          </p:nvPr>
        </p:nvSpPr>
        <p:spPr bwMode="auto"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62703515" name="Subtitle"/>
          <p:cNvSpPr>
            <a:spLocks noGrp="1"/>
          </p:cNvSpPr>
          <p:nvPr>
            <p:ph type="subTitle" idx="1"/>
          </p:nvPr>
        </p:nvSpPr>
        <p:spPr bwMode="auto"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444648" name="Section title"/>
          <p:cNvSpPr>
            <a:spLocks noGrp="1"/>
          </p:cNvSpPr>
          <p:nvPr>
            <p:ph type="title" idx="0"/>
          </p:nvPr>
        </p:nvSpPr>
        <p:spPr bwMode="auto"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82990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56617271" name="Body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Two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246824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34090014" name="Left column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67554928" name="Right column"/>
          <p:cNvSpPr>
            <a:spLocks noGrp="1"/>
          </p:cNvSpPr>
          <p:nvPr>
            <p:ph type="body" idx="2"/>
          </p:nvPr>
        </p:nvSpPr>
        <p:spPr bwMode="auto"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One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789058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76652136" name="Left column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Master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786426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01  문제와 예제</a:t>
            </a:r>
            <a:endParaRPr/>
          </a:p>
        </p:txBody>
      </p:sp>
      <p:sp>
        <p:nvSpPr>
          <p:cNvPr id="2133680037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과제 목표: 변경을 설명하는 초안 만들기</a:t>
            </a:r>
            <a:endParaRPr/>
          </a:p>
        </p:txBody>
      </p:sp>
      <p:sp>
        <p:nvSpPr>
          <p:cNvPr id="1384572625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335681946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요구서 1·3절 / E01</a:t>
            </a:r>
            <a:endParaRPr/>
          </a:p>
        </p:txBody>
      </p:sp>
      <p:sp>
        <p:nvSpPr>
          <p:cNvPr id="1292297974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/>
          </a:p>
        </p:txBody>
      </p:sp>
      <p:sp>
        <p:nvSpPr>
          <p:cNvPr id="1212671045" name=""/>
          <p:cNvSpPr>
            <a:spLocks noGrp="1"/>
          </p:cNvSpPr>
          <p:nvPr/>
        </p:nvSpPr>
        <p:spPr bwMode="auto">
          <a:xfrm>
            <a:off x="609600" y="1752599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입력: calculator.py의 작은 변경</a:t>
            </a:r>
            <a:endParaRPr/>
          </a:p>
        </p:txBody>
      </p:sp>
      <p:sp>
        <p:nvSpPr>
          <p:cNvPr id="2040576621" name=""/>
          <p:cNvSpPr>
            <a:spLocks noGrp="1"/>
          </p:cNvSpPr>
          <p:nvPr/>
        </p:nvSpPr>
        <p:spPr bwMode="auto">
          <a:xfrm>
            <a:off x="609600" y="2133600"/>
            <a:ext cx="5391150" cy="1981200"/>
          </a:xfrm>
          <a:prstGeom prst="rect">
            <a:avLst/>
          </a:prstGeom>
          <a:solidFill>
            <a:srgbClr val="EDF3F3"/>
          </a:solidFill>
          <a:ln w="0">
            <a:noFill/>
          </a:ln>
        </p:spPr>
      </p:sp>
      <p:sp>
        <p:nvSpPr>
          <p:cNvPr id="261209551" name=""/>
          <p:cNvSpPr>
            <a:spLocks noGrp="1"/>
          </p:cNvSpPr>
          <p:nvPr/>
        </p:nvSpPr>
        <p:spPr bwMode="auto">
          <a:xfrm>
            <a:off x="781050" y="2266950"/>
            <a:ext cx="50482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def divide(a, b):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if b == 0: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    raise ValueError(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        "0으로 나눌 수 없습니다.")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return a / b</a:t>
            </a:r>
            <a:endParaRPr/>
          </a:p>
        </p:txBody>
      </p:sp>
      <p:sp>
        <p:nvSpPr>
          <p:cNvPr id="822555304" name=""/>
          <p:cNvSpPr>
            <a:spLocks noGrp="1"/>
          </p:cNvSpPr>
          <p:nvPr/>
        </p:nvSpPr>
        <p:spPr bwMode="auto">
          <a:xfrm>
            <a:off x="6858000" y="1752599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학습 목표</a:t>
            </a:r>
            <a:endParaRPr/>
          </a:p>
        </p:txBody>
      </p:sp>
      <p:sp>
        <p:nvSpPr>
          <p:cNvPr id="10959306" name=""/>
          <p:cNvSpPr>
            <a:spLocks noGrp="1"/>
          </p:cNvSpPr>
          <p:nvPr/>
        </p:nvSpPr>
        <p:spPr bwMode="auto">
          <a:xfrm>
            <a:off x="6858000" y="2333625"/>
            <a:ext cx="4667250" cy="166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REST 요청·응답과 예외 처리</a:t>
            </a:r>
            <a:endParaRPr/>
          </a:p>
          <a:p>
            <a: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생성 파라미터의 영향</a:t>
            </a:r>
            <a:endParaRPr/>
          </a:p>
          <a:p>
            <a: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Git 결과를 입력으로 연결</a:t>
            </a:r>
            <a:endParaRPr/>
          </a:p>
          <a:p>
            <a:pPr>
              <a:def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프롬프트 설계와 결과 검증</a:t>
            </a:r>
            <a:endParaRPr/>
          </a:p>
        </p:txBody>
      </p:sp>
      <p:pic>
        <p:nvPicPr>
          <p:cNvPr id="19927047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7084" y="4143375"/>
            <a:ext cx="10557831" cy="1524000"/>
          </a:xfrm>
          <a:prstGeom prst="rect">
            <a:avLst/>
          </a:prstGeom>
        </p:spPr>
      </p:pic>
      <p:sp>
        <p:nvSpPr>
          <p:cNvPr id="1246221998" name=""/>
          <p:cNvSpPr>
            <a:spLocks noGrp="1"/>
          </p:cNvSpPr>
          <p:nvPr/>
        </p:nvSpPr>
        <p:spPr bwMode="auto">
          <a:xfrm>
            <a:off x="609600" y="581977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초안을 만든 뒤, 변경 사실과 테스트 상태는 사람이 확인한다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1770777" name=""/>
          <p:cNvCxnSpPr>
            <a:stCxn id="38599641" idx="3"/>
            <a:endCxn id="366205958" idx="1"/>
          </p:cNvCxnSpPr>
          <p:nvPr/>
        </p:nvCxnSpPr>
        <p:spPr bwMode="auto">
          <a:xfrm>
            <a:off x="9848850" y="3119438"/>
            <a:ext cx="190500" cy="0"/>
          </a:xfrm>
          <a:prstGeom prst="straightConnector1">
            <a:avLst/>
          </a:prstGeom>
          <a:ln w="19050">
            <a:solidFill>
              <a:srgbClr val="007C7B"/>
            </a:solidFill>
            <a:tailEnd type="arrow" w="med" len="med"/>
          </a:ln>
        </p:spPr>
      </p:cxnSp>
      <p:cxnSp>
        <p:nvCxnSpPr>
          <p:cNvPr id="1732883443" name=""/>
          <p:cNvCxnSpPr>
            <a:stCxn id="499641618" idx="3"/>
            <a:endCxn id="38599641" idx="1"/>
          </p:cNvCxnSpPr>
          <p:nvPr/>
        </p:nvCxnSpPr>
        <p:spPr bwMode="auto">
          <a:xfrm>
            <a:off x="8277225" y="3119438"/>
            <a:ext cx="190500" cy="0"/>
          </a:xfrm>
          <a:prstGeom prst="straightConnector1">
            <a:avLst/>
          </a:prstGeom>
          <a:ln w="19050">
            <a:solidFill>
              <a:srgbClr val="007C7B"/>
            </a:solidFill>
            <a:tailEnd type="arrow" w="med" len="med"/>
          </a:ln>
        </p:spPr>
      </p:cxnSp>
      <p:cxnSp>
        <p:nvCxnSpPr>
          <p:cNvPr id="1560321730" name=""/>
          <p:cNvCxnSpPr>
            <a:stCxn id="1434801620" idx="3"/>
            <a:endCxn id="499641618" idx="1"/>
          </p:cNvCxnSpPr>
          <p:nvPr/>
        </p:nvCxnSpPr>
        <p:spPr bwMode="auto">
          <a:xfrm>
            <a:off x="6705600" y="3119438"/>
            <a:ext cx="190500" cy="0"/>
          </a:xfrm>
          <a:prstGeom prst="straightConnector1">
            <a:avLst/>
          </a:prstGeom>
          <a:ln w="19050">
            <a:solidFill>
              <a:srgbClr val="007C7B"/>
            </a:solidFill>
            <a:tailEnd type="arrow" w="med" len="med"/>
          </a:ln>
        </p:spPr>
      </p:cxnSp>
      <p:cxnSp>
        <p:nvCxnSpPr>
          <p:cNvPr id="1773882295" name=""/>
          <p:cNvCxnSpPr>
            <a:stCxn id="822549135" idx="3"/>
            <a:endCxn id="1434801620" idx="1"/>
          </p:cNvCxnSpPr>
          <p:nvPr/>
        </p:nvCxnSpPr>
        <p:spPr bwMode="auto">
          <a:xfrm>
            <a:off x="5133975" y="3119438"/>
            <a:ext cx="190500" cy="0"/>
          </a:xfrm>
          <a:prstGeom prst="straightConnector1">
            <a:avLst/>
          </a:prstGeom>
          <a:ln w="19050">
            <a:solidFill>
              <a:srgbClr val="007C7B"/>
            </a:solidFill>
            <a:tailEnd type="arrow" w="med" len="med"/>
          </a:ln>
        </p:spPr>
      </p:cxnSp>
      <p:cxnSp>
        <p:nvCxnSpPr>
          <p:cNvPr id="417155819" name=""/>
          <p:cNvCxnSpPr>
            <a:stCxn id="903124403" idx="3"/>
            <a:endCxn id="822549135" idx="1"/>
          </p:cNvCxnSpPr>
          <p:nvPr/>
        </p:nvCxnSpPr>
        <p:spPr bwMode="auto">
          <a:xfrm>
            <a:off x="3562350" y="3119438"/>
            <a:ext cx="190500" cy="0"/>
          </a:xfrm>
          <a:prstGeom prst="straightConnector1">
            <a:avLst/>
          </a:prstGeom>
          <a:ln w="19050">
            <a:solidFill>
              <a:srgbClr val="007C7B"/>
            </a:solidFill>
            <a:tailEnd type="arrow" w="med" len="med"/>
          </a:ln>
        </p:spPr>
      </p:cxnSp>
      <p:cxnSp>
        <p:nvCxnSpPr>
          <p:cNvPr id="1386510382" name=""/>
          <p:cNvCxnSpPr>
            <a:stCxn id="1354361890" idx="3"/>
            <a:endCxn id="903124403" idx="1"/>
          </p:cNvCxnSpPr>
          <p:nvPr/>
        </p:nvCxnSpPr>
        <p:spPr bwMode="auto">
          <a:xfrm>
            <a:off x="1990725" y="3119438"/>
            <a:ext cx="190500" cy="0"/>
          </a:xfrm>
          <a:prstGeom prst="straightConnector1">
            <a:avLst/>
          </a:prstGeom>
          <a:ln w="19050">
            <a:solidFill>
              <a:srgbClr val="007C7B"/>
            </a:solidFill>
            <a:tailEnd type="arrow" w="med" len="med"/>
          </a:ln>
        </p:spPr>
      </p:cxnSp>
      <p:sp>
        <p:nvSpPr>
          <p:cNvPr id="1589928867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02  처리 흐름</a:t>
            </a:r>
            <a:endParaRPr/>
          </a:p>
        </p:txBody>
      </p:sp>
      <p:sp>
        <p:nvSpPr>
          <p:cNvPr id="214746965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전체 흐름과 작업 범위</a:t>
            </a:r>
            <a:endParaRPr/>
          </a:p>
        </p:txBody>
      </p:sp>
      <p:sp>
        <p:nvSpPr>
          <p:cNvPr id="1294587449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1549035079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요구서 2·4·5·7절</a:t>
            </a:r>
            <a:endParaRPr/>
          </a:p>
        </p:txBody>
      </p:sp>
      <p:sp>
        <p:nvSpPr>
          <p:cNvPr id="849484051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/>
          </a:p>
        </p:txBody>
      </p:sp>
      <p:sp>
        <p:nvSpPr>
          <p:cNvPr id="1035288557" name=""/>
          <p:cNvSpPr>
            <a:spLocks noGrp="1"/>
          </p:cNvSpPr>
          <p:nvPr/>
        </p:nvSpPr>
        <p:spPr bwMode="auto">
          <a:xfrm>
            <a:off x="609600" y="17335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무엇을 자동화하고, 어디서 사람이 판단하는가?</a:t>
            </a:r>
            <a:endParaRPr/>
          </a:p>
        </p:txBody>
      </p:sp>
      <p:sp>
        <p:nvSpPr>
          <p:cNvPr id="1354361890" name=""/>
          <p:cNvSpPr>
            <a:spLocks noGrp="1"/>
          </p:cNvSpPr>
          <p:nvPr/>
        </p:nvSpPr>
        <p:spPr bwMode="auto">
          <a:xfrm>
            <a:off x="609600" y="2667000"/>
            <a:ext cx="1381125" cy="904875"/>
          </a:xfrm>
          <a:prstGeom prst="rect">
            <a:avLst/>
          </a:prstGeom>
          <a:solidFill>
            <a:srgbClr val="EDF3F3"/>
          </a:solidFill>
          <a:ln w="12383">
            <a:solidFill>
              <a:srgbClr val="007C7B"/>
            </a:solidFill>
          </a:ln>
        </p:spPr>
        <p:txBody>
          <a:bodyPr lIns="38100" tIns="38100" rIns="38100" bIns="38100" anchor="ctr"/>
          <a:lstStyle>
            <a:def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명령·옵션</a:t>
            </a:r>
            <a:endParaRPr/>
          </a:p>
        </p:txBody>
      </p:sp>
      <p:sp>
        <p:nvSpPr>
          <p:cNvPr id="903124403" name=""/>
          <p:cNvSpPr>
            <a:spLocks noGrp="1"/>
          </p:cNvSpPr>
          <p:nvPr/>
        </p:nvSpPr>
        <p:spPr bwMode="auto">
          <a:xfrm>
            <a:off x="2181225" y="2667000"/>
            <a:ext cx="1381125" cy="904875"/>
          </a:xfrm>
          <a:prstGeom prst="rect">
            <a:avLst/>
          </a:prstGeom>
          <a:solidFill>
            <a:srgbClr val="EDF3F3"/>
          </a:solidFill>
          <a:ln w="12383">
            <a:solidFill>
              <a:srgbClr val="007C7B"/>
            </a:solidFill>
          </a:ln>
        </p:spPr>
        <p:txBody>
          <a:bodyPr lIns="38100" tIns="38100" rIns="38100" bIns="38100" anchor="ctr"/>
          <a:lstStyle>
            <a:def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Git diff</a:t>
            </a:r>
            <a:endParaRPr/>
          </a:p>
        </p:txBody>
      </p:sp>
      <p:sp>
        <p:nvSpPr>
          <p:cNvPr id="822549135" name=""/>
          <p:cNvSpPr>
            <a:spLocks noGrp="1"/>
          </p:cNvSpPr>
          <p:nvPr/>
        </p:nvSpPr>
        <p:spPr bwMode="auto">
          <a:xfrm>
            <a:off x="3752850" y="2667000"/>
            <a:ext cx="1381125" cy="904875"/>
          </a:xfrm>
          <a:prstGeom prst="rect">
            <a:avLst/>
          </a:prstGeom>
          <a:solidFill>
            <a:srgbClr val="EDF3F3"/>
          </a:solidFill>
          <a:ln w="12383">
            <a:solidFill>
              <a:srgbClr val="007C7B"/>
            </a:solidFill>
          </a:ln>
        </p:spPr>
        <p:txBody>
          <a:bodyPr lIns="38100" tIns="38100" rIns="38100" bIns="38100" anchor="ctr"/>
          <a:lstStyle>
            <a:def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전송 범위</a:t>
            </a:r>
            <a:endParaRPr/>
          </a:p>
        </p:txBody>
      </p:sp>
      <p:sp>
        <p:nvSpPr>
          <p:cNvPr id="1434801620" name=""/>
          <p:cNvSpPr>
            <a:spLocks noGrp="1"/>
          </p:cNvSpPr>
          <p:nvPr/>
        </p:nvSpPr>
        <p:spPr bwMode="auto">
          <a:xfrm>
            <a:off x="5324475" y="2667000"/>
            <a:ext cx="1381125" cy="904875"/>
          </a:xfrm>
          <a:prstGeom prst="rect">
            <a:avLst/>
          </a:prstGeom>
          <a:solidFill>
            <a:srgbClr val="EDF3F3"/>
          </a:solidFill>
          <a:ln w="12383">
            <a:solidFill>
              <a:srgbClr val="007C7B"/>
            </a:solidFill>
          </a:ln>
        </p:spPr>
        <p:txBody>
          <a:bodyPr lIns="38100" tIns="38100" rIns="38100" bIns="38100" anchor="ctr"/>
          <a:lstStyle>
            <a:def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endParaRPr/>
          </a:p>
        </p:txBody>
      </p:sp>
      <p:sp>
        <p:nvSpPr>
          <p:cNvPr id="499641618" name=""/>
          <p:cNvSpPr>
            <a:spLocks noGrp="1"/>
          </p:cNvSpPr>
          <p:nvPr/>
        </p:nvSpPr>
        <p:spPr bwMode="auto">
          <a:xfrm>
            <a:off x="6896100" y="2667000"/>
            <a:ext cx="1381125" cy="904875"/>
          </a:xfrm>
          <a:prstGeom prst="rect">
            <a:avLst/>
          </a:prstGeom>
          <a:solidFill>
            <a:srgbClr val="EDF3F3"/>
          </a:solidFill>
          <a:ln w="12383">
            <a:solidFill>
              <a:srgbClr val="007C7B"/>
            </a:solidFill>
          </a:ln>
        </p:spPr>
        <p:txBody>
          <a:bodyPr lIns="38100" tIns="38100" rIns="38100" bIns="38100" anchor="ctr"/>
          <a:lstStyle>
            <a:def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API 요청</a:t>
            </a:r>
            <a:endParaRPr/>
          </a:p>
        </p:txBody>
      </p:sp>
      <p:sp>
        <p:nvSpPr>
          <p:cNvPr id="38599641" name=""/>
          <p:cNvSpPr>
            <a:spLocks noGrp="1"/>
          </p:cNvSpPr>
          <p:nvPr/>
        </p:nvSpPr>
        <p:spPr bwMode="auto">
          <a:xfrm>
            <a:off x="8467725" y="2667000"/>
            <a:ext cx="1381125" cy="904875"/>
          </a:xfrm>
          <a:prstGeom prst="rect">
            <a:avLst/>
          </a:prstGeom>
          <a:solidFill>
            <a:srgbClr val="EDF3F3"/>
          </a:solidFill>
          <a:ln w="12383">
            <a:solidFill>
              <a:srgbClr val="007C7B"/>
            </a:solidFill>
          </a:ln>
        </p:spPr>
        <p:txBody>
          <a:bodyPr lIns="38100" tIns="38100" rIns="38100" bIns="38100" anchor="ctr"/>
          <a:lstStyle>
            <a:def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형식 검증</a:t>
            </a:r>
            <a:endParaRPr/>
          </a:p>
        </p:txBody>
      </p:sp>
      <p:sp>
        <p:nvSpPr>
          <p:cNvPr id="366205958" name=""/>
          <p:cNvSpPr>
            <a:spLocks noGrp="1"/>
          </p:cNvSpPr>
          <p:nvPr/>
        </p:nvSpPr>
        <p:spPr bwMode="auto">
          <a:xfrm>
            <a:off x="10039350" y="2667000"/>
            <a:ext cx="1381125" cy="904875"/>
          </a:xfrm>
          <a:prstGeom prst="rect">
            <a:avLst/>
          </a:prstGeom>
          <a:solidFill>
            <a:srgbClr val="EDF3F3"/>
          </a:solidFill>
          <a:ln w="12383">
            <a:solidFill>
              <a:srgbClr val="007C7B"/>
            </a:solidFill>
          </a:ln>
        </p:spPr>
        <p:txBody>
          <a:bodyPr lIns="38100" tIns="38100" rIns="38100" bIns="38100" anchor="ctr"/>
          <a:lstStyle>
            <a:def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초안·검토</a:t>
            </a:r>
            <a:endParaRPr/>
          </a:p>
        </p:txBody>
      </p:sp>
      <p:sp>
        <p:nvSpPr>
          <p:cNvPr id="1646156611" name=""/>
          <p:cNvSpPr>
            <a:spLocks noGrp="1"/>
          </p:cNvSpPr>
          <p:nvPr/>
        </p:nvSpPr>
        <p:spPr bwMode="auto">
          <a:xfrm>
            <a:off x="609600" y="4152900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필수</a:t>
            </a:r>
            <a:endParaRPr/>
          </a:p>
        </p:txBody>
      </p:sp>
      <p:sp>
        <p:nvSpPr>
          <p:cNvPr id="220266289" name=""/>
          <p:cNvSpPr>
            <a:spLocks noGrp="1"/>
          </p:cNvSpPr>
          <p:nvPr/>
        </p:nvSpPr>
        <p:spPr bwMode="auto">
          <a:xfrm>
            <a:off x="1943100" y="4152900"/>
            <a:ext cx="962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상태·diff, API·옵션, 검증, 안전모드, README·제출</a:t>
            </a:r>
            <a:endParaRPr/>
          </a:p>
        </p:txBody>
      </p:sp>
      <p:sp>
        <p:nvSpPr>
          <p:cNvPr id="1287350034" name=""/>
          <p:cNvSpPr>
            <a:spLocks noGrp="1"/>
          </p:cNvSpPr>
          <p:nvPr/>
        </p:nvSpPr>
        <p:spPr bwMode="auto">
          <a:xfrm>
            <a:off x="609600" y="4686300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권장</a:t>
            </a:r>
            <a:endParaRPr/>
          </a:p>
        </p:txBody>
      </p:sp>
      <p:sp>
        <p:nvSpPr>
          <p:cNvPr id="1462666247" name=""/>
          <p:cNvSpPr>
            <a:spLocks noGrp="1"/>
          </p:cNvSpPr>
          <p:nvPr/>
        </p:nvSpPr>
        <p:spPr bwMode="auto">
          <a:xfrm>
            <a:off x="1943100" y="4686300"/>
            <a:ext cx="962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커밋 제목 50자 이내 · 요청 1~2회 · 횟수 로그</a:t>
            </a:r>
            <a:endParaRPr/>
          </a:p>
        </p:txBody>
      </p:sp>
      <p:sp>
        <p:nvSpPr>
          <p:cNvPr id="1877734810" name=""/>
          <p:cNvSpPr>
            <a:spLocks noGrp="1"/>
          </p:cNvSpPr>
          <p:nvPr/>
        </p:nvSpPr>
        <p:spPr bwMode="auto">
          <a:xfrm>
            <a:off x="609600" y="5219700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선택</a:t>
            </a:r>
            <a:endParaRPr/>
          </a:p>
        </p:txBody>
      </p:sp>
      <p:sp>
        <p:nvSpPr>
          <p:cNvPr id="1186935087" name=""/>
          <p:cNvSpPr>
            <a:spLocks noGrp="1"/>
          </p:cNvSpPr>
          <p:nvPr/>
        </p:nvSpPr>
        <p:spPr bwMode="auto">
          <a:xfrm>
            <a:off x="1943100" y="5219700"/>
            <a:ext cx="962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실제 PR · 팀 컨벤션 · 안전모드 고도화</a:t>
            </a:r>
            <a:endParaRPr/>
          </a:p>
        </p:txBody>
      </p:sp>
      <p:sp>
        <p:nvSpPr>
          <p:cNvPr id="1022897630" name=""/>
          <p:cNvSpPr>
            <a:spLocks noGrp="1"/>
          </p:cNvSpPr>
          <p:nvPr/>
        </p:nvSpPr>
        <p:spPr bwMode="auto">
          <a:xfrm>
            <a:off x="609600" y="582930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과제의 GitHub 제출과 도구의 초안 출력은 서로 다른 작업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122036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03  CLI 입력</a:t>
            </a:r>
            <a:endParaRPr/>
          </a:p>
        </p:txBody>
      </p:sp>
      <p:sp>
        <p:nvSpPr>
          <p:cNvPr id="1469623766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명령에서 처리 함수까지</a:t>
            </a:r>
            <a:endParaRPr/>
          </a:p>
        </p:txBody>
      </p:sp>
      <p:sp>
        <p:nvSpPr>
          <p:cNvPr id="887038831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2025878374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main.py / build_parser·main</a:t>
            </a:r>
            <a:endParaRPr/>
          </a:p>
        </p:txBody>
      </p:sp>
      <p:sp>
        <p:nvSpPr>
          <p:cNvPr id="2127249629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/>
          </a:p>
        </p:txBody>
      </p:sp>
      <p:sp>
        <p:nvSpPr>
          <p:cNvPr id="2019406036" name=""/>
          <p:cNvSpPr>
            <a:spLocks noGrp="1"/>
          </p:cNvSpPr>
          <p:nvPr/>
        </p:nvSpPr>
        <p:spPr bwMode="auto">
          <a:xfrm>
            <a:off x="609600" y="1790700"/>
            <a:ext cx="6534150" cy="3505199"/>
          </a:xfrm>
          <a:prstGeom prst="rect">
            <a:avLst/>
          </a:prstGeom>
          <a:solidFill>
            <a:srgbClr val="EDF3F3"/>
          </a:solidFill>
          <a:ln w="0">
            <a:noFill/>
          </a:ln>
        </p:spPr>
      </p:sp>
      <p:sp>
        <p:nvSpPr>
          <p:cNvPr id="81790921" name=""/>
          <p:cNvSpPr>
            <a:spLocks noGrp="1"/>
          </p:cNvSpPr>
          <p:nvPr/>
        </p:nvSpPr>
        <p:spPr bwMode="auto">
          <a:xfrm>
            <a:off x="781050" y="1924050"/>
            <a:ext cx="619125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args = build_parser().parse_args()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try: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args.handler(args)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except (OSError, RuntimeError,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    ValueError) as error: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print(f"[ERROR] {error}",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      file=sys.stderr)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raise SystemExit(1) from None</a:t>
            </a:r>
            <a:endParaRPr/>
          </a:p>
        </p:txBody>
      </p:sp>
      <p:sp>
        <p:nvSpPr>
          <p:cNvPr id="1589099482" name=""/>
          <p:cNvSpPr>
            <a:spLocks noGrp="1"/>
          </p:cNvSpPr>
          <p:nvPr/>
        </p:nvSpPr>
        <p:spPr bwMode="auto">
          <a:xfrm>
            <a:off x="7543800" y="1952625"/>
            <a:ext cx="4095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commit → generate_commit()</a:t>
            </a:r>
            <a:endParaRPr/>
          </a:p>
        </p:txBody>
      </p:sp>
      <p:sp>
        <p:nvSpPr>
          <p:cNvPr id="1337363419" name=""/>
          <p:cNvSpPr>
            <a:spLocks noGrp="1"/>
          </p:cNvSpPr>
          <p:nvPr/>
        </p:nvSpPr>
        <p:spPr bwMode="auto">
          <a:xfrm>
            <a:off x="7543800" y="2514600"/>
            <a:ext cx="4000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pr → generate_pr()</a:t>
            </a:r>
            <a:endParaRPr/>
          </a:p>
        </p:txBody>
      </p:sp>
      <p:sp>
        <p:nvSpPr>
          <p:cNvPr id="50337880" name=""/>
          <p:cNvSpPr>
            <a:spLocks noGrp="1"/>
          </p:cNvSpPr>
          <p:nvPr/>
        </p:nvSpPr>
        <p:spPr bwMode="auto">
          <a:xfrm>
            <a:off x="7543800" y="3276600"/>
            <a:ext cx="40005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--model gemini</a:t>
            </a:r>
            <a:endParaRPr/>
          </a:p>
          <a:p>
            <a: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--temperature 0.2</a:t>
            </a:r>
            <a:endParaRPr/>
          </a:p>
          <a:p>
            <a: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--max-tokens 500</a:t>
            </a:r>
            <a:endParaRPr/>
          </a:p>
          <a:p>
            <a: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--safe-mode</a:t>
            </a:r>
            <a:endParaRPr/>
          </a:p>
        </p:txBody>
      </p:sp>
      <p:sp>
        <p:nvSpPr>
          <p:cNvPr id="943281282" name=""/>
          <p:cNvSpPr>
            <a:spLocks noGrp="1"/>
          </p:cNvSpPr>
          <p:nvPr/>
        </p:nvSpPr>
        <p:spPr bwMode="auto">
          <a:xfrm>
            <a:off x="609600" y="569595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CLI는 명령을 선택하고, Git 수집과 AI 처리는 서비스가 맡는다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625281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04  Git 수집</a:t>
            </a:r>
            <a:endParaRPr/>
          </a:p>
        </p:txBody>
      </p:sp>
      <p:sp>
        <p:nvSpPr>
          <p:cNvPr id="1493929737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Git에서 어떤 변경을 읽는가</a:t>
            </a:r>
            <a:endParaRPr/>
          </a:p>
        </p:txBody>
      </p:sp>
      <p:sp>
        <p:nvSpPr>
          <p:cNvPr id="76746105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1492128590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git_service.py / git_status·git_diff / E02</a:t>
            </a:r>
            <a:endParaRPr/>
          </a:p>
        </p:txBody>
      </p:sp>
      <p:sp>
        <p:nvSpPr>
          <p:cNvPr id="446867263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/>
          </a:p>
        </p:txBody>
      </p:sp>
      <p:graphicFrame>
        <p:nvGraphicFramePr>
          <p:cNvPr id="111130998" name=""/>
          <p:cNvGraphicFramePr>
            <a:graphicFrameLocks xmlns:a="http://schemas.openxmlformats.org/drawingml/2006/main"/>
          </p:cNvGraphicFramePr>
          <p:nvPr/>
        </p:nvGraphicFramePr>
        <p:xfrm rot="0">
          <a:off x="609600" y="1847850"/>
          <a:ext cx="10972800" cy="3048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0"/>
                <a:gridCol w="1381125"/>
                <a:gridCol w="3429000"/>
                <a:gridCol w="3305175"/>
              </a:tblGrid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상태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T w="9525" algn="ctr">
                      <a:solidFill>
                        <a:srgbClr val="D6DEDF"/>
                      </a:solidFill>
                    </a:lnT>
                    <a:lnB w="9525" algn="ctr">
                      <a:solidFill>
                        <a:srgbClr val="D6DEDF"/>
                      </a:solidFill>
                    </a:lnB>
                    <a:solidFill>
                      <a:srgbClr val="182F4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T w="9525" algn="ctr">
                      <a:solidFill>
                        <a:srgbClr val="D6DEDF"/>
                      </a:solidFill>
                    </a:lnT>
                    <a:lnB w="9525" algn="ctr">
                      <a:solidFill>
                        <a:srgbClr val="D6DEDF"/>
                      </a:solidFill>
                    </a:lnB>
                    <a:solidFill>
                      <a:srgbClr val="182F4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생성용 git diff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T w="9525" algn="ctr">
                      <a:solidFill>
                        <a:srgbClr val="D6DEDF"/>
                      </a:solidFill>
                    </a:lnT>
                    <a:lnB w="9525" algn="ctr">
                      <a:solidFill>
                        <a:srgbClr val="D6DEDF"/>
                      </a:solidFill>
                    </a:lnB>
                    <a:solidFill>
                      <a:srgbClr val="182F4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T w="9525" algn="ctr">
                      <a:solidFill>
                        <a:srgbClr val="D6DEDF"/>
                      </a:solidFill>
                    </a:lnT>
                    <a:lnB w="9525" algn="ctr">
                      <a:solidFill>
                        <a:srgbClr val="D6DEDF"/>
                      </a:solidFill>
                    </a:lnB>
                    <a:solidFill>
                      <a:srgbClr val="182F40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깨끗함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안내·API 0회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unstaged 추적 파일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 M"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줄 변경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 생성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staged만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"M "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안내·API 0회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untracked만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"??"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5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안내·API 0회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937238378" name=""/>
          <p:cNvSpPr>
            <a:spLocks noGrp="1"/>
          </p:cNvSpPr>
          <p:nvPr/>
        </p:nvSpPr>
        <p:spPr bwMode="auto">
          <a:xfrm>
            <a:off x="609600" y="52197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>
              <a:def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인덱스 ← 작업 파일: git diff  ← 현재 생성 입력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423887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05  전송 범위</a:t>
            </a:r>
            <a:endParaRPr/>
          </a:p>
        </p:txBody>
      </p:sp>
      <p:sp>
        <p:nvSpPr>
          <p:cNvPr id="1806339425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API에 보내는 정보의 범위</a:t>
            </a:r>
            <a:endParaRPr/>
          </a:p>
        </p:txBody>
      </p:sp>
      <p:sp>
        <p:nvSpPr>
          <p:cNvPr id="218661066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830343512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ai_service.py / limit_diff·_prepare_diff / E03</a:t>
            </a:r>
            <a:endParaRPr/>
          </a:p>
        </p:txBody>
      </p:sp>
      <p:sp>
        <p:nvSpPr>
          <p:cNvPr id="97207591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/>
          </a:p>
        </p:txBody>
      </p:sp>
      <p:sp>
        <p:nvSpPr>
          <p:cNvPr id="1452748650" name=""/>
          <p:cNvSpPr>
            <a:spLocks noGrp="1"/>
          </p:cNvSpPr>
          <p:nvPr/>
        </p:nvSpPr>
        <p:spPr bwMode="auto">
          <a:xfrm>
            <a:off x="609600" y="17907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--safe-mode  기본 OFF · 켜면 앞의 원문 200줄</a:t>
            </a:r>
            <a:endParaRPr/>
          </a:p>
        </p:txBody>
      </p:sp>
      <p:sp>
        <p:nvSpPr>
          <p:cNvPr id="986432485" name=""/>
          <p:cNvSpPr>
            <a:spLocks noGrp="1"/>
          </p:cNvSpPr>
          <p:nvPr/>
        </p:nvSpPr>
        <p:spPr bwMode="auto">
          <a:xfrm>
            <a:off x="609600" y="2438400"/>
            <a:ext cx="10725150" cy="1809750"/>
          </a:xfrm>
          <a:prstGeom prst="rect">
            <a:avLst/>
          </a:prstGeom>
          <a:solidFill>
            <a:srgbClr val="EDF3F3"/>
          </a:solidFill>
          <a:ln w="0">
            <a:noFill/>
          </a:ln>
        </p:spPr>
      </p:sp>
      <p:sp>
        <p:nvSpPr>
          <p:cNvPr id="1879613369" name=""/>
          <p:cNvSpPr>
            <a:spLocks noGrp="1"/>
          </p:cNvSpPr>
          <p:nvPr/>
        </p:nvSpPr>
        <p:spPr bwMode="auto">
          <a:xfrm>
            <a:off x="781050" y="2571750"/>
            <a:ext cx="10382250" cy="1543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lnSpc>
                <a:spcPct val="114999"/>
              </a:lnSpc>
              <a:buNone/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lines = diff.splitlines()</a:t>
            </a:r>
            <a:endParaRPr/>
          </a:p>
          <a:p>
            <a:pPr>
              <a:lnSpc>
                <a:spcPct val="114999"/>
              </a:lnSpc>
              <a:buNone/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if len(lines) &lt;= 200:</a:t>
            </a:r>
            <a:endParaRPr/>
          </a:p>
          <a:p>
            <a:pPr>
              <a:lnSpc>
                <a:spcPct val="114999"/>
              </a:lnSpc>
              <a:buNone/>
              <a:def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return diff</a:t>
            </a:r>
            <a:endParaRPr/>
          </a:p>
        </p:txBody>
      </p:sp>
      <p:sp>
        <p:nvSpPr>
          <p:cNvPr id="1993184714" name=""/>
          <p:cNvSpPr>
            <a:spLocks noGrp="1"/>
          </p:cNvSpPr>
          <p:nvPr/>
        </p:nvSpPr>
        <p:spPr bwMode="auto">
          <a:xfrm>
            <a:off x="781050" y="376237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초과 시 앞의 200줄 + 절단 안내를 전송</a:t>
            </a:r>
            <a:endParaRPr/>
          </a:p>
        </p:txBody>
      </p:sp>
      <p:pic>
        <p:nvPicPr>
          <p:cNvPr id="14608098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62898" y="4438650"/>
            <a:ext cx="9466203" cy="1333500"/>
          </a:xfrm>
          <a:prstGeom prst="rect">
            <a:avLst/>
          </a:prstGeom>
        </p:spPr>
      </p:pic>
      <p:sp>
        <p:nvSpPr>
          <p:cNvPr id="1964787473" name=""/>
          <p:cNvSpPr>
            <a:spLocks noGrp="1"/>
          </p:cNvSpPr>
          <p:nvPr/>
        </p:nvSpPr>
        <p:spPr bwMode="auto">
          <a:xfrm>
            <a:off x="609600" y="584835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rPr>
              <a:t>줄 제한 ≠ 비밀값 마스킹 ≠ 토큰·비용 상한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303479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06  프롬프트</a:t>
            </a:r>
            <a:endParaRPr/>
          </a:p>
        </p:txBody>
      </p:sp>
      <p:sp>
        <p:nvSpPr>
          <p:cNvPr id="1983922301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diff에서 프롬프트로</a:t>
            </a:r>
            <a:endParaRPr/>
          </a:p>
        </p:txBody>
      </p:sp>
      <p:sp>
        <p:nvSpPr>
          <p:cNvPr id="37682328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1194115284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ai_service.py / COMMIT_PROMPT·PR_PROMPT·ai_prompt</a:t>
            </a:r>
            <a:endParaRPr/>
          </a:p>
        </p:txBody>
      </p:sp>
      <p:sp>
        <p:nvSpPr>
          <p:cNvPr id="1974484318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/>
          </a:p>
        </p:txBody>
      </p:sp>
      <p:sp>
        <p:nvSpPr>
          <p:cNvPr id="881043920" name=""/>
          <p:cNvSpPr>
            <a:spLocks noGrp="1"/>
          </p:cNvSpPr>
          <p:nvPr/>
        </p:nvSpPr>
        <p:spPr bwMode="auto">
          <a:xfrm>
            <a:off x="609600" y="183832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작성 규칙</a:t>
            </a:r>
            <a:endParaRPr/>
          </a:p>
        </p:txBody>
      </p:sp>
      <p:sp>
        <p:nvSpPr>
          <p:cNvPr id="1799995094" name=""/>
          <p:cNvSpPr>
            <a:spLocks noGrp="1"/>
          </p:cNvSpPr>
          <p:nvPr/>
        </p:nvSpPr>
        <p:spPr bwMode="auto">
          <a:xfrm>
            <a:off x="609600" y="2505074"/>
            <a:ext cx="457200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commit: 제목 ≤72자</a:t>
            </a:r>
            <a:endParaRPr/>
          </a:p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본문 선택 · 불릿 1~2개</a:t>
            </a:r>
            <a:endParaRPr/>
          </a:p>
          <a:p>
            <a:pPr>
              <a:defRPr/>
            </a:pPr>
            <a:endParaRPr/>
          </a:p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pr: 제목 ≤80자</a:t>
            </a:r>
            <a:endParaRPr/>
          </a:p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Why / What / How to Test</a:t>
            </a:r>
            <a:endParaRPr/>
          </a:p>
        </p:txBody>
      </p:sp>
      <p:sp>
        <p:nvSpPr>
          <p:cNvPr id="550952152" name=""/>
          <p:cNvSpPr>
            <a:spLocks noGrp="1"/>
          </p:cNvSpPr>
          <p:nvPr/>
        </p:nvSpPr>
        <p:spPr bwMode="auto">
          <a:xfrm>
            <a:off x="6172200" y="1838325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같은 변경 맥락</a:t>
            </a:r>
            <a:endParaRPr/>
          </a:p>
        </p:txBody>
      </p:sp>
      <p:sp>
        <p:nvSpPr>
          <p:cNvPr id="1459539087" name=""/>
          <p:cNvSpPr>
            <a:spLocks noGrp="1"/>
          </p:cNvSpPr>
          <p:nvPr/>
        </p:nvSpPr>
        <p:spPr bwMode="auto">
          <a:xfrm>
            <a:off x="6172200" y="2390775"/>
            <a:ext cx="5248275" cy="2314575"/>
          </a:xfrm>
          <a:prstGeom prst="rect">
            <a:avLst/>
          </a:prstGeom>
          <a:solidFill>
            <a:srgbClr val="EDF3F3"/>
          </a:solidFill>
          <a:ln w="0">
            <a:noFill/>
          </a:ln>
        </p:spPr>
      </p:sp>
      <p:sp>
        <p:nvSpPr>
          <p:cNvPr id="468017145" name=""/>
          <p:cNvSpPr>
            <a:spLocks noGrp="1"/>
          </p:cNvSpPr>
          <p:nvPr/>
        </p:nvSpPr>
        <p:spPr bwMode="auto">
          <a:xfrm>
            <a:off x="6343650" y="2524125"/>
            <a:ext cx="4905375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def divide(a, b):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+    if b == 0: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+        raise ValueError(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+            "0으로 나눌 수 없습니다.")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 return a / b</a:t>
            </a:r>
            <a:endParaRPr/>
          </a:p>
        </p:txBody>
      </p:sp>
      <p:sp>
        <p:nvSpPr>
          <p:cNvPr id="1650198303" name=""/>
          <p:cNvSpPr>
            <a:spLocks noGrp="1"/>
          </p:cNvSpPr>
          <p:nvPr/>
        </p:nvSpPr>
        <p:spPr bwMode="auto">
          <a:xfrm>
            <a:off x="609600" y="517207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3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COMMIT_PROMPT 또는 PR_PROMPT + diff</a:t>
            </a:r>
            <a:endParaRPr/>
          </a:p>
        </p:txBody>
      </p:sp>
      <p:sp>
        <p:nvSpPr>
          <p:cNvPr id="1416399191" name=""/>
          <p:cNvSpPr>
            <a:spLocks noGrp="1"/>
          </p:cNvSpPr>
          <p:nvPr/>
        </p:nvSpPr>
        <p:spPr bwMode="auto">
          <a:xfrm>
            <a:off x="609600" y="582930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rPr>
              <a:t>diff에는 실제 개발 동기와 테스트 실행 결과가 없을 수 있다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445615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07  API 연동</a:t>
            </a:r>
            <a:endParaRPr/>
          </a:p>
        </p:txBody>
      </p:sp>
      <p:sp>
        <p:nvSpPr>
          <p:cNvPr id="1963334881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API 요청과 응답</a:t>
            </a:r>
            <a:endParaRPr/>
          </a:p>
        </p:txBody>
      </p:sp>
      <p:sp>
        <p:nvSpPr>
          <p:cNvPr id="1235737360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55498903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ai_service.py / ai_call_api / E01·E05</a:t>
            </a:r>
            <a:endParaRPr/>
          </a:p>
        </p:txBody>
      </p:sp>
      <p:sp>
        <p:nvSpPr>
          <p:cNvPr id="1353756789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/>
          </a:p>
        </p:txBody>
      </p:sp>
      <p:sp>
        <p:nvSpPr>
          <p:cNvPr id="972820968" name=""/>
          <p:cNvSpPr>
            <a:spLocks noGrp="1"/>
          </p:cNvSpPr>
          <p:nvPr/>
        </p:nvSpPr>
        <p:spPr bwMode="auto">
          <a:xfrm>
            <a:off x="609600" y="1752599"/>
            <a:ext cx="6057900" cy="3381375"/>
          </a:xfrm>
          <a:prstGeom prst="rect">
            <a:avLst/>
          </a:prstGeom>
          <a:solidFill>
            <a:srgbClr val="EDF3F3"/>
          </a:solidFill>
          <a:ln w="0">
            <a:noFill/>
          </a:ln>
        </p:spPr>
      </p:sp>
      <p:sp>
        <p:nvSpPr>
          <p:cNvPr id="300291609" name=""/>
          <p:cNvSpPr>
            <a:spLocks noGrp="1"/>
          </p:cNvSpPr>
          <p:nvPr/>
        </p:nvSpPr>
        <p:spPr bwMode="auto">
          <a:xfrm>
            <a:off x="781050" y="1885950"/>
            <a:ext cx="5715000" cy="3114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json={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"model": model,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"messages": [{"role": "user",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  "content": diff_after_prompt}],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"temperature": temperature,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  "max_tokens": max_tokens,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},</a:t>
            </a:r>
            <a:endParaRPr/>
          </a:p>
          <a:p>
            <a:pPr>
              <a:lnSpc>
                <a:spcPct val="114999"/>
              </a:lnSpc>
              <a:buNone/>
              <a:def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19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timeout=10,</a:t>
            </a:r>
            <a:endParaRPr/>
          </a:p>
        </p:txBody>
      </p:sp>
      <p:sp>
        <p:nvSpPr>
          <p:cNvPr id="633250147" name=""/>
          <p:cNvSpPr>
            <a:spLocks noGrp="1"/>
          </p:cNvSpPr>
          <p:nvPr/>
        </p:nvSpPr>
        <p:spPr bwMode="auto">
          <a:xfrm>
            <a:off x="7162800" y="1885950"/>
            <a:ext cx="4381500" cy="4381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temperature 0.2</a:t>
            </a:r>
            <a:endParaRPr/>
          </a:p>
        </p:txBody>
      </p:sp>
      <p:sp>
        <p:nvSpPr>
          <p:cNvPr id="1480599389" name=""/>
          <p:cNvSpPr>
            <a:spLocks noGrp="1"/>
          </p:cNvSpPr>
          <p:nvPr/>
        </p:nvSpPr>
        <p:spPr bwMode="auto">
          <a:xfrm>
            <a:off x="7162800" y="2438400"/>
            <a:ext cx="43815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낮은 값: 표현이 집중되는 경향</a:t>
            </a:r>
            <a:endParaRPr/>
          </a:p>
          <a:p>
            <a: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높은 값: 선택 다양성 증가</a:t>
            </a:r>
            <a:endParaRPr/>
          </a:p>
          <a:p>
            <a: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동일 문장·사실 정확성 보장 없음</a:t>
            </a:r>
            <a:endParaRPr/>
          </a:p>
        </p:txBody>
      </p:sp>
      <p:sp>
        <p:nvSpPr>
          <p:cNvPr id="593778693" name=""/>
          <p:cNvSpPr>
            <a:spLocks noGrp="1"/>
          </p:cNvSpPr>
          <p:nvPr/>
        </p:nvSpPr>
        <p:spPr bwMode="auto">
          <a:xfrm>
            <a:off x="7162800" y="4114800"/>
            <a:ext cx="4381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max_tokens 500</a:t>
            </a:r>
            <a:endParaRPr/>
          </a:p>
        </p:txBody>
      </p:sp>
      <p:sp>
        <p:nvSpPr>
          <p:cNvPr id="1520980564" name=""/>
          <p:cNvSpPr>
            <a:spLocks noGrp="1"/>
          </p:cNvSpPr>
          <p:nvPr/>
        </p:nvSpPr>
        <p:spPr bwMode="auto">
          <a:xfrm>
            <a:off x="7162800" y="4695825"/>
            <a:ext cx="4381500" cy="8762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출력 토큰 한도 · 글자 수와 다름</a:t>
            </a:r>
            <a:endParaRPr/>
          </a:p>
          <a:p>
            <a: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잘림 신호 → 재생성 대상으로 분류</a:t>
            </a:r>
            <a:endParaRPr/>
          </a:p>
        </p:txBody>
      </p:sp>
      <p:sp>
        <p:nvSpPr>
          <p:cNvPr id="1475393955" name=""/>
          <p:cNvSpPr>
            <a:spLocks noGrp="1"/>
          </p:cNvSpPr>
          <p:nvPr/>
        </p:nvSpPr>
        <p:spPr bwMode="auto">
          <a:xfrm>
            <a:off x="609600" y="582930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API_KEY는 환경변수로 · 응답 content와 종료 이유를 함께 검사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651683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08  형식 검증</a:t>
            </a:r>
            <a:endParaRPr/>
          </a:p>
        </p:txBody>
      </p:sp>
      <p:sp>
        <p:nvSpPr>
          <p:cNvPr id="77805633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생성 결과의 형식 검증</a:t>
            </a:r>
            <a:endParaRPr/>
          </a:p>
        </p:txBody>
      </p:sp>
      <p:sp>
        <p:nvSpPr>
          <p:cNvPr id="1036183480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823145291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ai_service.py / ai_validate·_markdown_structure / E04</a:t>
            </a:r>
            <a:endParaRPr/>
          </a:p>
        </p:txBody>
      </p:sp>
      <p:sp>
        <p:nvSpPr>
          <p:cNvPr id="481555223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/>
          </a:p>
        </p:txBody>
      </p:sp>
      <p:graphicFrame>
        <p:nvGraphicFramePr>
          <p:cNvPr id="312643976" name=""/>
          <p:cNvGraphicFramePr>
            <a:graphicFrameLocks xmlns:a="http://schemas.openxmlformats.org/drawingml/2006/main"/>
          </p:cNvGraphicFramePr>
          <p:nvPr/>
        </p:nvGraphicFramePr>
        <p:xfrm rot="0">
          <a:off x="609600" y="1847850"/>
          <a:ext cx="10972800" cy="2438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371850"/>
                <a:gridCol w="3800475"/>
                <a:gridCol w="3800475"/>
              </a:tblGrid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T w="9525" algn="ctr">
                      <a:solidFill>
                        <a:srgbClr val="D6DEDF"/>
                      </a:solidFill>
                    </a:lnT>
                    <a:lnB w="9525" algn="ctr">
                      <a:solidFill>
                        <a:srgbClr val="D6DEDF"/>
                      </a:solidFill>
                    </a:lnB>
                    <a:solidFill>
                      <a:srgbClr val="182F4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T w="9525" algn="ctr">
                      <a:solidFill>
                        <a:srgbClr val="D6DEDF"/>
                      </a:solidFill>
                    </a:lnT>
                    <a:lnB w="9525" algn="ctr">
                      <a:solidFill>
                        <a:srgbClr val="D6DEDF"/>
                      </a:solidFill>
                    </a:lnB>
                    <a:solidFill>
                      <a:srgbClr val="182F4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거부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T w="9525" algn="ctr">
                      <a:solidFill>
                        <a:srgbClr val="D6DEDF"/>
                      </a:solidFill>
                    </a:lnT>
                    <a:lnB w="9525" algn="ctr">
                      <a:solidFill>
                        <a:srgbClr val="D6DEDF"/>
                      </a:solidFill>
                    </a:lnB>
                    <a:solidFill>
                      <a:srgbClr val="182F40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 제목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72자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73자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 제목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80자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81자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 섹션</a:t>
                      </a:r>
                      <a:endParaRPr/>
                    </a:p>
                  </a:txBody>
                  <a:tcPr marL="91440" marR="91440" marT="45720" marB="45720" anchor="ctr">
                    <a:lnL w="9525" algn="ctr">
                      <a:solidFill>
                        <a:srgbClr val="D6DEDF"/>
                      </a:solidFill>
                    </a:lnL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H2 + 불릿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>
                          <a:solidFill>
                            <a:srgbClr val="182F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속 가짜 섹션</a:t>
                      </a:r>
                      <a:endParaRPr/>
                    </a:p>
                  </a:txBody>
                  <a:tcPr marL="91440" marR="91440" marT="45720" marB="45720" anchor="ctr">
                    <a:lnR w="9525" algn="ctr">
                      <a:solidFill>
                        <a:srgbClr val="D6DEDF"/>
                      </a:solidFill>
                    </a:lnR>
                    <a:lnB w="9525" algn="ctr">
                      <a:solidFill>
                        <a:srgbClr val="D6DEDF"/>
                      </a:solidFill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2081785672" name=""/>
          <p:cNvSpPr>
            <a:spLocks noGrp="1"/>
          </p:cNvSpPr>
          <p:nvPr/>
        </p:nvSpPr>
        <p:spPr bwMode="auto">
          <a:xfrm>
            <a:off x="609600" y="4676775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문자열 검색</a:t>
            </a:r>
            <a:endParaRPr/>
          </a:p>
        </p:txBody>
      </p:sp>
      <p:sp>
        <p:nvSpPr>
          <p:cNvPr id="407489334" name=""/>
          <p:cNvSpPr>
            <a:spLocks noGrp="1"/>
          </p:cNvSpPr>
          <p:nvPr/>
        </p:nvSpPr>
        <p:spPr bwMode="auto">
          <a:xfrm>
            <a:off x="609600" y="519112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“## Why”라는 글자가 있는가?</a:t>
            </a:r>
            <a:endParaRPr/>
          </a:p>
        </p:txBody>
      </p:sp>
      <p:sp>
        <p:nvSpPr>
          <p:cNvPr id="1231061020" name=""/>
          <p:cNvSpPr>
            <a:spLocks noGrp="1"/>
          </p:cNvSpPr>
          <p:nvPr/>
        </p:nvSpPr>
        <p:spPr bwMode="auto">
          <a:xfrm>
            <a:off x="6324600" y="4676775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Markdown 구문 분석</a:t>
            </a:r>
            <a:endParaRPr/>
          </a:p>
        </p:txBody>
      </p:sp>
      <p:sp>
        <p:nvSpPr>
          <p:cNvPr id="2090149449" name=""/>
          <p:cNvSpPr>
            <a:spLocks noGrp="1"/>
          </p:cNvSpPr>
          <p:nvPr/>
        </p:nvSpPr>
        <p:spPr bwMode="auto">
          <a:xfrm>
            <a:off x="6324600" y="51911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실제 제목인가? 내용 있는 목록인가?</a:t>
            </a:r>
            <a:endParaRPr/>
          </a:p>
        </p:txBody>
      </p:sp>
      <p:sp>
        <p:nvSpPr>
          <p:cNvPr id="683177674" name=""/>
          <p:cNvSpPr>
            <a:spLocks noGrp="1"/>
          </p:cNvSpPr>
          <p:nvPr/>
        </p:nvSpPr>
        <p:spPr bwMode="auto">
          <a:xfrm>
            <a:off x="609600" y="58388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rPr>
              <a:t>형식이 맞아도 변경 사실·이유·테스트 진위는 별도 확인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046145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09  재생성·실패</a:t>
            </a:r>
            <a:endParaRPr/>
          </a:p>
        </p:txBody>
      </p:sp>
      <p:sp>
        <p:nvSpPr>
          <p:cNvPr id="671934929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재생성과 오류 종료</a:t>
            </a:r>
            <a:endParaRPr/>
          </a:p>
        </p:txBody>
      </p:sp>
      <p:sp>
        <p:nvSpPr>
          <p:cNvPr id="699079358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285583946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ai_service.py / ai_generate_validated / E05·E06</a:t>
            </a:r>
            <a:endParaRPr/>
          </a:p>
        </p:txBody>
      </p:sp>
      <p:sp>
        <p:nvSpPr>
          <p:cNvPr id="970398076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/>
          </a:p>
        </p:txBody>
      </p:sp>
      <p:sp>
        <p:nvSpPr>
          <p:cNvPr id="2067806160" name=""/>
          <p:cNvSpPr>
            <a:spLocks noGrp="1"/>
          </p:cNvSpPr>
          <p:nvPr/>
        </p:nvSpPr>
        <p:spPr bwMode="auto">
          <a:xfrm>
            <a:off x="609600" y="1838325"/>
            <a:ext cx="552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형식 오류 · 토큰 한도</a:t>
            </a:r>
            <a:endParaRPr/>
          </a:p>
        </p:txBody>
      </p:sp>
      <p:sp>
        <p:nvSpPr>
          <p:cNvPr id="710083362" name=""/>
          <p:cNvSpPr>
            <a:spLocks noGrp="1"/>
          </p:cNvSpPr>
          <p:nvPr/>
        </p:nvSpPr>
        <p:spPr bwMode="auto">
          <a:xfrm>
            <a:off x="609600" y="2466975"/>
            <a:ext cx="55245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실패 이유를 붙여 전체 재작성</a:t>
            </a:r>
            <a:endParaRPr/>
          </a:p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첫 요청 → 검증 → 재요청 1회</a:t>
            </a:r>
            <a:endParaRPr/>
          </a:p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최종 실패면 종료 코드 1</a:t>
            </a:r>
            <a:endParaRPr/>
          </a:p>
        </p:txBody>
      </p:sp>
      <p:sp>
        <p:nvSpPr>
          <p:cNvPr id="1498925019" name=""/>
          <p:cNvSpPr>
            <a:spLocks noGrp="1"/>
          </p:cNvSpPr>
          <p:nvPr/>
        </p:nvSpPr>
        <p:spPr bwMode="auto">
          <a:xfrm>
            <a:off x="6534150" y="1838325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rPr>
              <a:t>인증 · 네트워크 · HTTP 오류</a:t>
            </a:r>
            <a:endParaRPr/>
          </a:p>
        </p:txBody>
      </p:sp>
      <p:sp>
        <p:nvSpPr>
          <p:cNvPr id="1941519957" name=""/>
          <p:cNvSpPr>
            <a:spLocks noGrp="1"/>
          </p:cNvSpPr>
          <p:nvPr/>
        </p:nvSpPr>
        <p:spPr bwMode="auto">
          <a:xfrm>
            <a:off x="6534150" y="2466975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같은 요청을 자동 반복하지 않음</a:t>
            </a:r>
            <a:endParaRPr/>
          </a:p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원인을 안내하고 종료 코드 1</a:t>
            </a:r>
            <a:endParaRPr/>
          </a:p>
        </p:txBody>
      </p:sp>
      <p:pic>
        <p:nvPicPr>
          <p:cNvPr id="9097887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600" y="4318577"/>
            <a:ext cx="10972800" cy="1164071"/>
          </a:xfrm>
          <a:prstGeom prst="rect">
            <a:avLst/>
          </a:prstGeom>
        </p:spPr>
      </p:pic>
      <p:sp>
        <p:nvSpPr>
          <p:cNvPr id="1033070077" name=""/>
          <p:cNvSpPr>
            <a:spLocks noGrp="1"/>
          </p:cNvSpPr>
          <p:nvPr/>
        </p:nvSpPr>
        <p:spPr bwMode="auto">
          <a:xfrm>
            <a:off x="609600" y="584835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제목 절단 대신 재생성: 의미 훼손을 피하려는 선택, 추가 비용 발생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48235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10  실행 증거</a:t>
            </a:r>
            <a:endParaRPr/>
          </a:p>
        </p:txBody>
      </p:sp>
      <p:sp>
        <p:nvSpPr>
          <p:cNvPr id="922506371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실행 증거와 재현 가능성</a:t>
            </a:r>
            <a:endParaRPr/>
          </a:p>
        </p:txBody>
      </p:sp>
      <p:sp>
        <p:nvSpPr>
          <p:cNvPr id="1170537767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1792208874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근거/실행기록.md / E01~E08</a:t>
            </a:r>
            <a:endParaRPr/>
          </a:p>
        </p:txBody>
      </p:sp>
      <p:sp>
        <p:nvSpPr>
          <p:cNvPr id="900764671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/>
          </a:p>
        </p:txBody>
      </p:sp>
      <p:sp>
        <p:nvSpPr>
          <p:cNvPr id="1658799756" name=""/>
          <p:cNvSpPr>
            <a:spLocks noGrp="1"/>
          </p:cNvSpPr>
          <p:nvPr/>
        </p:nvSpPr>
        <p:spPr bwMode="auto">
          <a:xfrm>
            <a:off x="609600" y="18383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실제 API: commit 1회 · pr 1회 · 각 종료 0 · Git 상태 보존</a:t>
            </a:r>
            <a:endParaRPr/>
          </a:p>
        </p:txBody>
      </p:sp>
      <p:sp>
        <p:nvSpPr>
          <p:cNvPr id="667772615" name=""/>
          <p:cNvSpPr>
            <a:spLocks noGrp="1"/>
          </p:cNvSpPr>
          <p:nvPr/>
        </p:nvSpPr>
        <p:spPr bwMode="auto">
          <a:xfrm>
            <a:off x="609600" y="2495550"/>
            <a:ext cx="10953750" cy="4381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PR: calculator.py의 divide 함수에 0으로 나누기 예외 처리 추가</a:t>
            </a:r>
            <a:endParaRPr/>
          </a:p>
        </p:txBody>
      </p:sp>
      <p:sp>
        <p:nvSpPr>
          <p:cNvPr id="608513033" name=""/>
          <p:cNvSpPr>
            <a:spLocks noGrp="1"/>
          </p:cNvSpPr>
          <p:nvPr/>
        </p:nvSpPr>
        <p:spPr bwMode="auto">
          <a:xfrm>
            <a:off x="609600" y="3105150"/>
            <a:ext cx="10953750" cy="7334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What: divide 함수 내부에 b가 0일 경우 ValueError를</a:t>
            </a:r>
            <a:endParaRPr/>
          </a:p>
          <a:p>
            <a:pPr>
              <a:def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0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발생시키는 조건문을 추가했습니다.</a:t>
            </a:r>
            <a:endParaRPr/>
          </a:p>
        </p:txBody>
      </p:sp>
      <p:pic>
        <p:nvPicPr>
          <p:cNvPr id="15541571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51364" y="3886200"/>
            <a:ext cx="8689273" cy="1571625"/>
          </a:xfrm>
          <a:prstGeom prst="rect">
            <a:avLst/>
          </a:prstGeom>
        </p:spPr>
      </p:pic>
      <p:sp>
        <p:nvSpPr>
          <p:cNvPr id="790437435" name=""/>
          <p:cNvSpPr>
            <a:spLocks noGrp="1"/>
          </p:cNvSpPr>
          <p:nvPr/>
        </p:nvSpPr>
        <p:spPr bwMode="auto">
          <a:xfrm>
            <a:off x="609600" y="552450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0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</p:txBody>
      </p:sp>
      <p:sp>
        <p:nvSpPr>
          <p:cNvPr id="1415476647" name=""/>
          <p:cNvSpPr>
            <a:spLocks noGrp="1"/>
          </p:cNvSpPr>
          <p:nvPr/>
        </p:nvSpPr>
        <p:spPr bwMode="auto">
          <a:xfrm>
            <a:off x="609600" y="584835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B94A25"/>
                </a:solidFill>
                <a:latin typeface="Malgun Gothic"/>
                <a:ea typeface="Malgun Gothic"/>
                <a:cs typeface="Malgun Gothic"/>
              </a:rPr>
              <a:t>How to Test는 확인 제안이며, 생성기가 실행한 테스트가 아니다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96453" name=""/>
          <p:cNvSpPr>
            <a:spLocks noGrp="1"/>
          </p:cNvSpPr>
          <p:nvPr/>
        </p:nvSpPr>
        <p:spPr bwMode="auto">
          <a:xfrm>
            <a:off x="609600" y="2667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11  한계·CS</a:t>
            </a:r>
            <a:endParaRPr/>
          </a:p>
        </p:txBody>
      </p:sp>
      <p:sp>
        <p:nvSpPr>
          <p:cNvPr id="524844380" name=""/>
          <p:cNvSpPr>
            <a:spLocks noGrp="1"/>
          </p:cNvSpPr>
          <p:nvPr/>
        </p:nvSpPr>
        <p:spPr bwMode="auto">
          <a:xfrm>
            <a:off x="609600" y="6858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구현의 한계와 확장 질문</a:t>
            </a:r>
            <a:endParaRPr/>
          </a:p>
        </p:txBody>
      </p:sp>
      <p:sp>
        <p:nvSpPr>
          <p:cNvPr id="1156953066" name=""/>
          <p:cNvSpPr>
            <a:spLocks noGrp="1"/>
          </p:cNvSpPr>
          <p:nvPr/>
        </p:nvSpPr>
        <p:spPr bwMode="auto">
          <a:xfrm>
            <a:off x="609600" y="1447800"/>
            <a:ext cx="10972800" cy="19050"/>
          </a:xfrm>
          <a:prstGeom prst="rect">
            <a:avLst/>
          </a:prstGeom>
          <a:solidFill>
            <a:srgbClr val="D6DEDF"/>
          </a:solidFill>
          <a:ln w="0">
            <a:noFill/>
          </a:ln>
        </p:spPr>
      </p:sp>
      <p:sp>
        <p:nvSpPr>
          <p:cNvPr id="1683606133" name=""/>
          <p:cNvSpPr>
            <a:spLocks noGrp="1"/>
          </p:cNvSpPr>
          <p:nvPr/>
        </p:nvSpPr>
        <p:spPr bwMode="auto">
          <a:xfrm>
            <a:off x="609600" y="636270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rPr>
              <a:t>상세해설.md / 11장</a:t>
            </a:r>
            <a:endParaRPr/>
          </a:p>
        </p:txBody>
      </p:sp>
      <p:sp>
        <p:nvSpPr>
          <p:cNvPr id="1497716521" name=""/>
          <p:cNvSpPr>
            <a:spLocks noGrp="1"/>
          </p:cNvSpPr>
          <p:nvPr/>
        </p:nvSpPr>
        <p:spPr bwMode="auto">
          <a:xfrm>
            <a:off x="11106150" y="6296024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/>
          </a:p>
        </p:txBody>
      </p:sp>
      <p:sp>
        <p:nvSpPr>
          <p:cNvPr id="1152956468" name=""/>
          <p:cNvSpPr>
            <a:spLocks noGrp="1"/>
          </p:cNvSpPr>
          <p:nvPr/>
        </p:nvSpPr>
        <p:spPr bwMode="auto">
          <a:xfrm>
            <a:off x="609600" y="1847850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초안을 적용하기 전에 확인할 세 가지</a:t>
            </a:r>
            <a:endParaRPr/>
          </a:p>
        </p:txBody>
      </p:sp>
      <p:sp>
        <p:nvSpPr>
          <p:cNvPr id="456162905" name=""/>
          <p:cNvSpPr>
            <a:spLocks noGrp="1"/>
          </p:cNvSpPr>
          <p:nvPr/>
        </p:nvSpPr>
        <p:spPr bwMode="auto">
          <a:xfrm>
            <a:off x="609600" y="26670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1</a:t>
            </a:r>
            <a:endParaRPr/>
          </a:p>
        </p:txBody>
      </p:sp>
      <p:sp>
        <p:nvSpPr>
          <p:cNvPr id="593826483" name=""/>
          <p:cNvSpPr>
            <a:spLocks noGrp="1"/>
          </p:cNvSpPr>
          <p:nvPr/>
        </p:nvSpPr>
        <p:spPr bwMode="auto">
          <a:xfrm>
            <a:off x="1428750" y="27241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변경 사실</a:t>
            </a:r>
            <a:endParaRPr/>
          </a:p>
        </p:txBody>
      </p:sp>
      <p:sp>
        <p:nvSpPr>
          <p:cNvPr id="1858282746" name=""/>
          <p:cNvSpPr>
            <a:spLocks noGrp="1"/>
          </p:cNvSpPr>
          <p:nvPr/>
        </p:nvSpPr>
        <p:spPr bwMode="auto">
          <a:xfrm>
            <a:off x="4476750" y="2724150"/>
            <a:ext cx="7000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diff와 문장이 일치하는가?</a:t>
            </a:r>
            <a:endParaRPr/>
          </a:p>
        </p:txBody>
      </p:sp>
      <p:sp>
        <p:nvSpPr>
          <p:cNvPr id="951029405" name=""/>
          <p:cNvSpPr>
            <a:spLocks noGrp="1"/>
          </p:cNvSpPr>
          <p:nvPr/>
        </p:nvSpPr>
        <p:spPr bwMode="auto">
          <a:xfrm>
            <a:off x="609600" y="3505199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2</a:t>
            </a:r>
            <a:endParaRPr/>
          </a:p>
        </p:txBody>
      </p:sp>
      <p:sp>
        <p:nvSpPr>
          <p:cNvPr id="1409559668" name=""/>
          <p:cNvSpPr>
            <a:spLocks noGrp="1"/>
          </p:cNvSpPr>
          <p:nvPr/>
        </p:nvSpPr>
        <p:spPr bwMode="auto">
          <a:xfrm>
            <a:off x="1428750" y="35623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변경 이유</a:t>
            </a:r>
            <a:endParaRPr/>
          </a:p>
        </p:txBody>
      </p:sp>
      <p:sp>
        <p:nvSpPr>
          <p:cNvPr id="1677015618" name=""/>
          <p:cNvSpPr>
            <a:spLocks noGrp="1"/>
          </p:cNvSpPr>
          <p:nvPr/>
        </p:nvSpPr>
        <p:spPr bwMode="auto">
          <a:xfrm>
            <a:off x="4476750" y="3562350"/>
            <a:ext cx="7000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근거인가, 추정인가?</a:t>
            </a:r>
            <a:endParaRPr/>
          </a:p>
        </p:txBody>
      </p:sp>
      <p:sp>
        <p:nvSpPr>
          <p:cNvPr id="1585500161" name=""/>
          <p:cNvSpPr>
            <a:spLocks noGrp="1"/>
          </p:cNvSpPr>
          <p:nvPr/>
        </p:nvSpPr>
        <p:spPr bwMode="auto">
          <a:xfrm>
            <a:off x="609600" y="43434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3</a:t>
            </a:r>
            <a:endParaRPr/>
          </a:p>
        </p:txBody>
      </p:sp>
      <p:sp>
        <p:nvSpPr>
          <p:cNvPr id="1666693751" name=""/>
          <p:cNvSpPr>
            <a:spLocks noGrp="1"/>
          </p:cNvSpPr>
          <p:nvPr/>
        </p:nvSpPr>
        <p:spPr bwMode="auto">
          <a:xfrm>
            <a:off x="1428750" y="44005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테스트 상태</a:t>
            </a:r>
            <a:endParaRPr/>
          </a:p>
        </p:txBody>
      </p:sp>
      <p:sp>
        <p:nvSpPr>
          <p:cNvPr id="1164939867" name=""/>
          <p:cNvSpPr>
            <a:spLocks noGrp="1"/>
          </p:cNvSpPr>
          <p:nvPr/>
        </p:nvSpPr>
        <p:spPr bwMode="auto">
          <a:xfrm>
            <a:off x="4476750" y="4400550"/>
            <a:ext cx="7000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2F40"/>
                </a:solidFill>
                <a:latin typeface="Malgun Gothic"/>
                <a:ea typeface="Malgun Gothic"/>
                <a:cs typeface="Malgun Gothic"/>
              </a:rPr>
              <a:t>실행 결과인가, 제안인가?</a:t>
            </a:r>
            <a:endParaRPr/>
          </a:p>
        </p:txBody>
      </p:sp>
      <p:sp>
        <p:nvSpPr>
          <p:cNvPr id="870848361" name=""/>
          <p:cNvSpPr>
            <a:spLocks noGrp="1"/>
          </p:cNvSpPr>
          <p:nvPr/>
        </p:nvSpPr>
        <p:spPr bwMode="auto">
          <a:xfrm>
            <a:off x="609600" y="535305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0" b="0">
                <a:solidFill>
                  <a:srgbClr val="5C6B73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</p:txBody>
      </p:sp>
      <p:sp>
        <p:nvSpPr>
          <p:cNvPr id="583992422" name=""/>
          <p:cNvSpPr>
            <a:spLocks noGrp="1"/>
          </p:cNvSpPr>
          <p:nvPr/>
        </p:nvSpPr>
        <p:spPr bwMode="auto">
          <a:xfrm>
            <a:off x="609600" y="585787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007C7B"/>
                </a:solidFill>
                <a:latin typeface="Malgun Gothic"/>
                <a:ea typeface="Malgun Gothic"/>
                <a:cs typeface="Malgun Gothic"/>
              </a:rPr>
              <a:t>개선 하나를 고른다면: 입력 범위 / 안전모드 / 검증 중 무엇인가?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Arial"/>
        <a:cs typeface="Arial"/>
      </a:majorFont>
      <a:minorFont>
        <a:latin typeface="Aptos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Arial"/>
        <a:cs typeface="Arial"/>
      </a:majorFont>
      <a:minorFont>
        <a:latin typeface="Aptos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Guset_694</cp:lastModifiedBy>
  <cp:revision>1</cp:revision>
  <dcterms:modified xsi:type="dcterms:W3CDTF">2026-10-19T08:10:34Z</dcterms:modified>
</cp:coreProperties>
</file>